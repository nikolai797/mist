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bg-BG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4F41C-7E17-6848-DDF6-C1E1A823A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8960" y="1122363"/>
            <a:ext cx="7559039" cy="3027360"/>
          </a:xfrm>
        </p:spPr>
        <p:txBody>
          <a:bodyPr>
            <a:normAutofit/>
          </a:bodyPr>
          <a:lstStyle/>
          <a:p>
            <a:r>
              <a:rPr lang="en-US" sz="5400"/>
              <a:t>Project MIST</a:t>
            </a:r>
            <a:endParaRPr lang="bg-BG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CA192-25F5-511A-B732-2B05C018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8010" y="4149724"/>
            <a:ext cx="7539989" cy="1108075"/>
          </a:xfrm>
        </p:spPr>
        <p:txBody>
          <a:bodyPr>
            <a:normAutofit/>
          </a:bodyPr>
          <a:lstStyle/>
          <a:p>
            <a:r>
              <a:rPr lang="bg-BG" sz="2400">
                <a:solidFill>
                  <a:schemeClr val="tx1"/>
                </a:solidFill>
              </a:rPr>
              <a:t>Направен от Николай Иванов, Любомир Шишков и Георги Иванов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pic>
        <p:nvPicPr>
          <p:cNvPr id="4" name="Картина 2">
            <a:extLst>
              <a:ext uri="{FF2B5EF4-FFF2-40B4-BE49-F238E27FC236}">
                <a16:creationId xmlns:a16="http://schemas.microsoft.com/office/drawing/2014/main" id="{FC66F3B7-28F7-41CB-5348-972597D605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859" y="2099510"/>
            <a:ext cx="1878444" cy="20502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50483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C8B6F-0981-38A6-CEA6-C3747865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bg-BG">
                <a:solidFill>
                  <a:srgbClr val="FFFFFF"/>
                </a:solidFill>
              </a:rPr>
              <a:t>Какво представлява </a:t>
            </a:r>
            <a:r>
              <a:rPr lang="en-US">
                <a:solidFill>
                  <a:srgbClr val="FFFFFF"/>
                </a:solidFill>
              </a:rPr>
              <a:t>Mist?</a:t>
            </a:r>
            <a:endParaRPr lang="bg-BG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D38F1-1702-ED72-413A-968E5707C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446" y="2413001"/>
            <a:ext cx="9048218" cy="303318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b="1">
                <a:solidFill>
                  <a:srgbClr val="FFFFFF"/>
                </a:solidFill>
              </a:rPr>
              <a:t>MIST </a:t>
            </a:r>
            <a:r>
              <a:rPr lang="bg-BG" sz="1700">
                <a:solidFill>
                  <a:srgbClr val="FFFFFF"/>
                </a:solidFill>
              </a:rPr>
              <a:t>е уеб приложение за продажба на видео игри, реализирано чрез три основни слоя:</a:t>
            </a:r>
            <a:endParaRPr lang="en-US" sz="170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FontTx/>
              <a:buChar char="-"/>
            </a:pPr>
            <a:r>
              <a:rPr lang="bg-BG" sz="1700" b="1">
                <a:solidFill>
                  <a:srgbClr val="FFFFFF"/>
                </a:solidFill>
              </a:rPr>
              <a:t>Слой за данни </a:t>
            </a:r>
            <a:endParaRPr lang="en-US" sz="1700" b="1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FontTx/>
              <a:buChar char="-"/>
            </a:pPr>
            <a:r>
              <a:rPr lang="bg-BG" sz="1700" b="1">
                <a:solidFill>
                  <a:srgbClr val="FFFFFF"/>
                </a:solidFill>
              </a:rPr>
              <a:t>Слой за услуги </a:t>
            </a:r>
            <a:endParaRPr lang="en-US" sz="1700" b="1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  <a:buFontTx/>
              <a:buChar char="-"/>
            </a:pPr>
            <a:r>
              <a:rPr lang="bg-BG" sz="1700" b="1">
                <a:solidFill>
                  <a:srgbClr val="FFFFFF"/>
                </a:solidFill>
              </a:rPr>
              <a:t>Презентационен слой </a:t>
            </a:r>
            <a:endParaRPr lang="bg-BG" sz="170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lang="bg-BG" sz="1700">
                <a:solidFill>
                  <a:srgbClr val="FFFFFF"/>
                </a:solidFill>
              </a:rPr>
              <a:t>Приложението използва база данни, </a:t>
            </a:r>
            <a:r>
              <a:rPr lang="bg-BG" sz="1700" b="1">
                <a:solidFill>
                  <a:srgbClr val="FFFFFF"/>
                </a:solidFill>
              </a:rPr>
              <a:t>Entity Framework Core</a:t>
            </a:r>
            <a:r>
              <a:rPr lang="bg-BG" sz="1700">
                <a:solidFill>
                  <a:srgbClr val="FFFFFF"/>
                </a:solidFill>
              </a:rPr>
              <a:t>, </a:t>
            </a:r>
            <a:r>
              <a:rPr lang="bg-BG" sz="1700" b="1">
                <a:solidFill>
                  <a:srgbClr val="FFFFFF"/>
                </a:solidFill>
              </a:rPr>
              <a:t>ASP.NET Core MVC</a:t>
            </a:r>
            <a:r>
              <a:rPr lang="bg-BG" sz="1700">
                <a:solidFill>
                  <a:srgbClr val="FFFFFF"/>
                </a:solidFill>
              </a:rPr>
              <a:t>, система за </a:t>
            </a:r>
            <a:r>
              <a:rPr lang="bg-BG" sz="1700" b="1">
                <a:solidFill>
                  <a:srgbClr val="FFFFFF"/>
                </a:solidFill>
              </a:rPr>
              <a:t>авторизация и удостоверяване</a:t>
            </a:r>
            <a:r>
              <a:rPr lang="bg-BG" sz="1700">
                <a:solidFill>
                  <a:srgbClr val="FFFFFF"/>
                </a:solidFill>
              </a:rPr>
              <a:t>, както и външни библиотеки за UI и функционалности.</a:t>
            </a:r>
          </a:p>
          <a:p>
            <a:pPr>
              <a:lnSpc>
                <a:spcPct val="110000"/>
              </a:lnSpc>
            </a:pPr>
            <a:endParaRPr lang="bg-BG" sz="1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94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DE2685-095E-D6A5-39F6-5A654447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b="1"/>
              <a:t>Функционалности: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D2D8D5-2477-6BE1-EBE3-A3CAF76EF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5946" y="2068878"/>
            <a:ext cx="3392423" cy="2776664"/>
          </a:xfrm>
        </p:spPr>
        <p:txBody>
          <a:bodyPr>
            <a:normAutofit fontScale="85000" lnSpcReduction="10000"/>
          </a:bodyPr>
          <a:lstStyle/>
          <a:p>
            <a:r>
              <a:rPr lang="bg-BG" b="1"/>
              <a:t>Публична част:</a:t>
            </a:r>
          </a:p>
          <a:p>
            <a:pPr>
              <a:buFontTx/>
              <a:buChar char="-"/>
            </a:pPr>
            <a:r>
              <a:rPr lang="bg-BG"/>
              <a:t>Преглед на всички игри</a:t>
            </a:r>
          </a:p>
          <a:p>
            <a:pPr>
              <a:buFontTx/>
              <a:buChar char="-"/>
            </a:pPr>
            <a:r>
              <a:rPr lang="bg-BG"/>
              <a:t>Филтриране по жанр</a:t>
            </a:r>
          </a:p>
          <a:p>
            <a:pPr>
              <a:buFontTx/>
              <a:buChar char="-"/>
            </a:pPr>
            <a:r>
              <a:rPr lang="bg-BG"/>
              <a:t>Търсене по име</a:t>
            </a:r>
          </a:p>
          <a:p>
            <a:pPr>
              <a:buFontTx/>
              <a:buChar char="-"/>
            </a:pPr>
            <a:r>
              <a:rPr lang="bg-BG"/>
              <a:t>Преглед на детайли за игра</a:t>
            </a:r>
          </a:p>
          <a:p>
            <a:endParaRPr lang="bg-BG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02661-51D9-4FB0-6C4B-50398FE63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8369" y="2097088"/>
            <a:ext cx="4152964" cy="2776664"/>
          </a:xfrm>
        </p:spPr>
        <p:txBody>
          <a:bodyPr>
            <a:normAutofit fontScale="85000" lnSpcReduction="10000"/>
          </a:bodyPr>
          <a:lstStyle/>
          <a:p>
            <a:r>
              <a:rPr lang="bg-BG" b="1"/>
              <a:t>Потребителска част (след логин):</a:t>
            </a:r>
            <a:endParaRPr lang="bg-BG"/>
          </a:p>
          <a:p>
            <a:pPr>
              <a:buFontTx/>
              <a:buChar char="-"/>
            </a:pPr>
            <a:r>
              <a:rPr lang="bg-BG"/>
              <a:t>Добавяне на игри в количка</a:t>
            </a:r>
          </a:p>
          <a:p>
            <a:pPr>
              <a:buFontTx/>
              <a:buChar char="-"/>
            </a:pPr>
            <a:r>
              <a:rPr lang="bg-BG"/>
              <a:t>Създаване на поръчка</a:t>
            </a:r>
          </a:p>
          <a:p>
            <a:pPr>
              <a:buFontTx/>
              <a:buChar char="-"/>
            </a:pPr>
            <a:r>
              <a:rPr lang="bg-BG"/>
              <a:t>Преглед на история на поръчките</a:t>
            </a:r>
          </a:p>
          <a:p>
            <a:pPr>
              <a:buFontTx/>
              <a:buChar char="-"/>
            </a:pPr>
            <a:r>
              <a:rPr lang="bg-BG"/>
              <a:t>Редакция на профил</a:t>
            </a:r>
          </a:p>
          <a:p>
            <a:pPr marL="0" indent="0">
              <a:buNone/>
            </a:pPr>
            <a:endParaRPr lang="bg-BG"/>
          </a:p>
          <a:p>
            <a:pPr>
              <a:buFontTx/>
              <a:buChar char="-"/>
            </a:pPr>
            <a:endParaRPr lang="bg-BG"/>
          </a:p>
          <a:p>
            <a:endParaRPr lang="bg-BG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A3A90E0-20A7-469F-7CBC-0E5B45E9E89F}"/>
              </a:ext>
            </a:extLst>
          </p:cNvPr>
          <p:cNvSpPr txBox="1">
            <a:spLocks/>
          </p:cNvSpPr>
          <p:nvPr/>
        </p:nvSpPr>
        <p:spPr>
          <a:xfrm>
            <a:off x="8371333" y="2097088"/>
            <a:ext cx="3275141" cy="3050984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sz="5000" b="1"/>
              <a:t>Администраторска част</a:t>
            </a:r>
            <a:endParaRPr lang="bg-BG" sz="5000"/>
          </a:p>
          <a:p>
            <a:pPr lvl="0">
              <a:buFontTx/>
              <a:buChar char="-"/>
            </a:pPr>
            <a:r>
              <a:rPr lang="bg-BG" sz="5000"/>
              <a:t>CRUD операции за игри</a:t>
            </a:r>
          </a:p>
          <a:p>
            <a:pPr lvl="0">
              <a:buFontTx/>
              <a:buChar char="-"/>
            </a:pPr>
            <a:r>
              <a:rPr lang="bg-BG" sz="5000"/>
              <a:t>CRUD операции за жанрове</a:t>
            </a:r>
          </a:p>
          <a:p>
            <a:pPr lvl="0">
              <a:buFontTx/>
              <a:buChar char="-"/>
            </a:pPr>
            <a:r>
              <a:rPr lang="bg-BG" sz="5000"/>
              <a:t>Управление на потребители</a:t>
            </a:r>
          </a:p>
          <a:p>
            <a:pPr lvl="0">
              <a:buFontTx/>
              <a:buChar char="-"/>
            </a:pPr>
            <a:r>
              <a:rPr lang="bg-BG" sz="5000"/>
              <a:t>Преглед на всички поръчки</a:t>
            </a:r>
          </a:p>
          <a:p>
            <a:pPr>
              <a:buFontTx/>
              <a:buChar char="-"/>
            </a:pPr>
            <a:endParaRPr lang="bg-BG" sz="2900"/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5701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AEE45-38A2-7D6F-F22D-F91A4B63D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43030"/>
            <a:ext cx="9905998" cy="1478570"/>
          </a:xfrm>
        </p:spPr>
        <p:txBody>
          <a:bodyPr/>
          <a:lstStyle/>
          <a:p>
            <a:r>
              <a:rPr lang="bg-BG" b="1"/>
              <a:t>Как работи приложението: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CB2E2C-3B5B-D934-19BE-563C5A231D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41415" y="1393551"/>
            <a:ext cx="4573587" cy="2295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B109C2-EC83-A1CD-1E00-EE9F204B119A}"/>
              </a:ext>
            </a:extLst>
          </p:cNvPr>
          <p:cNvSpPr txBox="1"/>
          <p:nvPr/>
        </p:nvSpPr>
        <p:spPr>
          <a:xfrm>
            <a:off x="658370" y="3689343"/>
            <a:ext cx="50566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bg-BG" b="1"/>
              <a:t>Начална страница: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Начало</a:t>
            </a:r>
            <a:r>
              <a:rPr lang="en-US"/>
              <a:t> – връща потребителя обратно на тази страница.</a:t>
            </a:r>
            <a:endParaRPr lang="bg-BG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Политика за поверителност </a:t>
            </a:r>
            <a:r>
              <a:rPr lang="en-US"/>
              <a:t>– информация за събирането и използването на лични данни.</a:t>
            </a:r>
            <a:endParaRPr lang="bg-BG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bg-BG" b="1"/>
              <a:t>Игри</a:t>
            </a:r>
            <a:r>
              <a:rPr lang="bg-BG"/>
              <a:t> – преглед на игрите на сайта</a:t>
            </a:r>
            <a:endParaRPr lang="bg-BG" sz="14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bg-BG" b="1"/>
              <a:t>Категории</a:t>
            </a:r>
            <a:r>
              <a:rPr lang="bg-BG"/>
              <a:t> – показва какви видове игри има</a:t>
            </a:r>
            <a:endParaRPr lang="bg-BG" sz="1400"/>
          </a:p>
          <a:p>
            <a:endParaRPr lang="bg-B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456BD-A873-4FE7-95A3-96245B62E094}"/>
              </a:ext>
            </a:extLst>
          </p:cNvPr>
          <p:cNvSpPr txBox="1"/>
          <p:nvPr/>
        </p:nvSpPr>
        <p:spPr>
          <a:xfrm>
            <a:off x="6303263" y="3689343"/>
            <a:ext cx="53553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bg-BG" b="1"/>
              <a:t>Страница „Политика за поверителност“: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/>
              <a:t>Описано е</a:t>
            </a:r>
            <a:r>
              <a:rPr lang="bg-BG"/>
              <a:t>, че могат да се събират: име, адрес, телефонен номер и имейл.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/>
              <a:t>Събраните данни се използват за:</a:t>
            </a:r>
          </a:p>
          <a:p>
            <a:pPr marL="285750" indent="-285750">
              <a:buFontTx/>
              <a:buChar char="-"/>
            </a:pPr>
            <a:r>
              <a:rPr lang="bg-BG"/>
              <a:t>предоставяне на услуги през сайта</a:t>
            </a:r>
          </a:p>
          <a:p>
            <a:pPr marL="285750" indent="-285750">
              <a:buFontTx/>
              <a:buChar char="-"/>
            </a:pPr>
            <a:r>
              <a:rPr lang="bg-BG"/>
              <a:t>комуникация с потребителя относно запитвания</a:t>
            </a:r>
          </a:p>
          <a:p>
            <a:pPr marL="285750" indent="-285750">
              <a:buFontTx/>
              <a:buChar char="-"/>
            </a:pPr>
            <a:r>
              <a:rPr lang="bg-BG"/>
              <a:t>подобряване качеството на съдържанието и услугите</a:t>
            </a:r>
          </a:p>
          <a:p>
            <a:endParaRPr lang="bg-BG"/>
          </a:p>
          <a:p>
            <a:endParaRPr lang="bg-BG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C8416CD-F3A1-4BF9-4F50-338BE3ACE8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75413" y="1393550"/>
            <a:ext cx="4573586" cy="229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0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AD93AE-71FE-C4A1-4DE8-F320106F34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5966" y="1334820"/>
            <a:ext cx="5334366" cy="217325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A6D46F-D2E1-950E-1286-689636AE3F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35060" y="1334820"/>
            <a:ext cx="2604572" cy="2176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4248AF-BD20-7D8F-5F0A-0CD045941BF2}"/>
              </a:ext>
            </a:extLst>
          </p:cNvPr>
          <p:cNvSpPr txBox="1"/>
          <p:nvPr/>
        </p:nvSpPr>
        <p:spPr>
          <a:xfrm>
            <a:off x="922751" y="3601430"/>
            <a:ext cx="546079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/>
              <a:t>Страница „Игри“: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/>
              <a:t>До всяка игра има бутони: </a:t>
            </a:r>
            <a:r>
              <a:rPr lang="bg-BG" sz="2000" b="1"/>
              <a:t>Edit, Details</a:t>
            </a:r>
            <a:r>
              <a:rPr lang="bg-BG" sz="2000"/>
              <a:t>, </a:t>
            </a:r>
            <a:r>
              <a:rPr lang="bg-BG" sz="2000" b="1"/>
              <a:t>Delete</a:t>
            </a:r>
            <a:endParaRPr lang="bg-BG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/>
              <a:t>В горната част има бутон </a:t>
            </a:r>
            <a:r>
              <a:rPr lang="bg-BG" sz="2000" b="1"/>
              <a:t>Create New</a:t>
            </a:r>
            <a:r>
              <a:rPr lang="bg-BG" sz="2000"/>
              <a:t> за добавяне на нова игра.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/>
              <a:t>Това е основният </a:t>
            </a:r>
            <a:r>
              <a:rPr lang="bg-BG" sz="2000" b="1"/>
              <a:t>CRUD</a:t>
            </a:r>
            <a:r>
              <a:rPr lang="bg-BG" sz="2000"/>
              <a:t> интерфейс за управление на видео игрите. Администраторът може да добавя, редактира и изтрива игри.</a:t>
            </a:r>
          </a:p>
          <a:p>
            <a:endParaRPr lang="bg-B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15D9BD-5E8B-A164-DAEE-7871C45AF627}"/>
              </a:ext>
            </a:extLst>
          </p:cNvPr>
          <p:cNvSpPr txBox="1"/>
          <p:nvPr/>
        </p:nvSpPr>
        <p:spPr>
          <a:xfrm>
            <a:off x="6570163" y="3601430"/>
            <a:ext cx="533436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/>
              <a:t>Страница „Категории“: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/>
              <a:t>За всеки жанр има: </a:t>
            </a:r>
            <a:r>
              <a:rPr lang="bg-BG" sz="2000" b="1"/>
              <a:t>Edit,</a:t>
            </a:r>
            <a:r>
              <a:rPr lang="bg-BG" sz="2000"/>
              <a:t> </a:t>
            </a:r>
            <a:r>
              <a:rPr lang="bg-BG" sz="2000" b="1"/>
              <a:t>Details</a:t>
            </a:r>
            <a:r>
              <a:rPr lang="bg-BG" sz="2000"/>
              <a:t>, </a:t>
            </a:r>
            <a:r>
              <a:rPr lang="bg-BG" sz="2000" b="1"/>
              <a:t>Delete</a:t>
            </a:r>
            <a:endParaRPr lang="bg-BG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/>
              <a:t>В горната част има бутон </a:t>
            </a:r>
            <a:r>
              <a:rPr lang="bg-BG" sz="2000" b="1"/>
              <a:t>Create New</a:t>
            </a:r>
            <a:r>
              <a:rPr lang="bg-BG" sz="20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/>
              <a:t>Това е </a:t>
            </a:r>
            <a:r>
              <a:rPr lang="bg-BG" sz="2000" b="1"/>
              <a:t>CRUD</a:t>
            </a:r>
            <a:r>
              <a:rPr lang="bg-BG" sz="2000"/>
              <a:t> интерфейсът за управление на жанровете. Жанровете се използват при създаване на игри и представляват връзка „много към едно“.</a:t>
            </a:r>
          </a:p>
          <a:p>
            <a:endParaRPr lang="bg-BG"/>
          </a:p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9649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Картина 7">
            <a:extLst>
              <a:ext uri="{FF2B5EF4-FFF2-40B4-BE49-F238E27FC236}">
                <a16:creationId xmlns:a16="http://schemas.microsoft.com/office/drawing/2014/main" id="{CB263600-D687-8D3D-670F-048573C60E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808700"/>
            <a:ext cx="4878387" cy="2266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B5BA74-3563-8758-957E-23E64383EF4B}"/>
              </a:ext>
            </a:extLst>
          </p:cNvPr>
          <p:cNvSpPr txBox="1"/>
          <p:nvPr/>
        </p:nvSpPr>
        <p:spPr>
          <a:xfrm>
            <a:off x="1048640" y="3459778"/>
            <a:ext cx="310578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b="1"/>
              <a:t>Форма за вход с полета:		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Email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Password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Remember 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b="1"/>
              <a:t>И бутони: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Log in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Forgot your password?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Register as a new user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Resend email confirmation</a:t>
            </a:r>
          </a:p>
          <a:p>
            <a:endParaRPr lang="bg-B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611F2-7799-836D-2E4C-5671BC36AEDF}"/>
              </a:ext>
            </a:extLst>
          </p:cNvPr>
          <p:cNvSpPr txBox="1"/>
          <p:nvPr/>
        </p:nvSpPr>
        <p:spPr>
          <a:xfrm>
            <a:off x="1144589" y="3059668"/>
            <a:ext cx="4875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/>
              <a:t>Страница „Вход“: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035E4-4F60-E94B-2C52-EE2EB147C264}"/>
              </a:ext>
            </a:extLst>
          </p:cNvPr>
          <p:cNvSpPr txBox="1"/>
          <p:nvPr/>
        </p:nvSpPr>
        <p:spPr>
          <a:xfrm>
            <a:off x="3779780" y="3474828"/>
            <a:ext cx="245230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b="1"/>
              <a:t>Потребителите </a:t>
            </a:r>
            <a:r>
              <a:rPr lang="bg-BG" sz="2000"/>
              <a:t>могат да влизат в акаунта си, а администраторът получава достъп до административните панели.</a:t>
            </a:r>
          </a:p>
          <a:p>
            <a:endParaRPr lang="bg-BG"/>
          </a:p>
        </p:txBody>
      </p:sp>
      <p:pic>
        <p:nvPicPr>
          <p:cNvPr id="11" name="Картина 6">
            <a:extLst>
              <a:ext uri="{FF2B5EF4-FFF2-40B4-BE49-F238E27FC236}">
                <a16:creationId xmlns:a16="http://schemas.microsoft.com/office/drawing/2014/main" id="{FD49A4F7-CF24-2FC3-1036-6D779D2314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75" y="808700"/>
            <a:ext cx="5242213" cy="22660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4DC836-3671-8B3F-4D54-6D8BF94119BE}"/>
              </a:ext>
            </a:extLst>
          </p:cNvPr>
          <p:cNvSpPr txBox="1"/>
          <p:nvPr/>
        </p:nvSpPr>
        <p:spPr>
          <a:xfrm>
            <a:off x="6444375" y="3074718"/>
            <a:ext cx="5242212" cy="341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bg-BG" sz="2000" b="1"/>
              <a:t>Страница за регистрация:</a:t>
            </a:r>
          </a:p>
          <a:p>
            <a:pPr algn="ctr"/>
            <a:endParaRPr lang="bg-BG" sz="2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b="1"/>
              <a:t>Форма за създаване на нов акаунт: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Email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Password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Confirm Password</a:t>
            </a:r>
          </a:p>
          <a:p>
            <a:pPr marL="285750" lvl="0" indent="-285750">
              <a:buFontTx/>
              <a:buChar char="-"/>
            </a:pPr>
            <a:r>
              <a:rPr lang="bg-BG" sz="2000"/>
              <a:t>Register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sz="2000" b="1"/>
              <a:t>Позволява създаване </a:t>
            </a:r>
            <a:r>
              <a:rPr lang="bg-BG" sz="2000"/>
              <a:t>на нови потребители. </a:t>
            </a:r>
          </a:p>
          <a:p>
            <a:pPr marL="285750" lvl="0" indent="-285750">
              <a:buFontTx/>
              <a:buChar char="-"/>
            </a:pPr>
            <a:endParaRPr lang="bg-BG"/>
          </a:p>
          <a:p>
            <a:endParaRPr lang="bg-BG" b="1"/>
          </a:p>
        </p:txBody>
      </p:sp>
    </p:spTree>
    <p:extLst>
      <p:ext uri="{BB962C8B-B14F-4D97-AF65-F5344CB8AC3E}">
        <p14:creationId xmlns:p14="http://schemas.microsoft.com/office/powerpoint/2010/main" val="240461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11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2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3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6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41F94-1903-C04D-FF65-3BD505EB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445" y="1168078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bg-BG" b="1">
                <a:solidFill>
                  <a:srgbClr val="FFFFFF"/>
                </a:solidFill>
              </a:rPr>
              <a:t>Заключение: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B952F-7EC5-DC5C-A3D6-F1D0CDD4D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6337" y="2248225"/>
            <a:ext cx="9048218" cy="4005995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bg-BG" sz="2000" b="1">
                <a:solidFill>
                  <a:srgbClr val="FFFFFF"/>
                </a:solidFill>
              </a:rPr>
              <a:t>Проектът </a:t>
            </a:r>
            <a:r>
              <a:rPr lang="en-US" sz="2000" b="1">
                <a:solidFill>
                  <a:srgbClr val="FFFFFF"/>
                </a:solidFill>
              </a:rPr>
              <a:t>MIST</a:t>
            </a:r>
            <a:r>
              <a:rPr lang="bg-BG" sz="2000" b="1">
                <a:solidFill>
                  <a:srgbClr val="FFFFFF"/>
                </a:solidFill>
              </a:rPr>
              <a:t> </a:t>
            </a:r>
            <a:r>
              <a:rPr lang="bg-BG" sz="2000">
                <a:solidFill>
                  <a:srgbClr val="FFFFFF"/>
                </a:solidFill>
              </a:rPr>
              <a:t>е напълно функционално уеб приложение</a:t>
            </a:r>
            <a:r>
              <a:rPr lang="en-US" sz="2000">
                <a:solidFill>
                  <a:srgbClr val="FFFFFF"/>
                </a:solidFill>
              </a:rPr>
              <a:t>. </a:t>
            </a:r>
            <a:r>
              <a:rPr lang="bg-BG" sz="2000">
                <a:solidFill>
                  <a:srgbClr val="FFFFFF"/>
                </a:solidFill>
              </a:rPr>
              <a:t>Системата е изградена върху трислойна архитектура, използва база данни с ORM, включва CRUD операции, удостоверяване с роли и компонентни тестове.</a:t>
            </a:r>
          </a:p>
          <a:p>
            <a:pPr>
              <a:lnSpc>
                <a:spcPct val="110000"/>
              </a:lnSpc>
            </a:pPr>
            <a:r>
              <a:rPr lang="bg-BG" sz="2000" b="1">
                <a:solidFill>
                  <a:srgbClr val="FFFFFF"/>
                </a:solidFill>
              </a:rPr>
              <a:t>Проектът</a:t>
            </a:r>
            <a:r>
              <a:rPr lang="bg-BG" sz="2000">
                <a:solidFill>
                  <a:srgbClr val="FFFFFF"/>
                </a:solidFill>
              </a:rPr>
              <a:t> демонстрира реална работа на основните модули:</a:t>
            </a:r>
          </a:p>
          <a:p>
            <a:pPr lvl="0">
              <a:lnSpc>
                <a:spcPct val="110000"/>
              </a:lnSpc>
            </a:pPr>
            <a:r>
              <a:rPr lang="bg-BG" sz="2000" b="1">
                <a:solidFill>
                  <a:srgbClr val="FFFFFF"/>
                </a:solidFill>
              </a:rPr>
              <a:t>Началната страница и навигацията</a:t>
            </a:r>
            <a:r>
              <a:rPr lang="bg-BG" sz="2000">
                <a:solidFill>
                  <a:srgbClr val="FFFFFF"/>
                </a:solidFill>
              </a:rPr>
              <a:t> показват интуитивен интерфейс и приветствие към потребителя.</a:t>
            </a:r>
          </a:p>
          <a:p>
            <a:pPr lvl="0">
              <a:lnSpc>
                <a:spcPct val="110000"/>
              </a:lnSpc>
              <a:buFontTx/>
              <a:buChar char="-"/>
            </a:pPr>
            <a:r>
              <a:rPr lang="bg-BG" sz="1800">
                <a:solidFill>
                  <a:srgbClr val="FFFFFF"/>
                </a:solidFill>
              </a:rPr>
              <a:t>Списъкът с игри и жанрове илюстрира административния панел за управление на съдържанието.</a:t>
            </a:r>
          </a:p>
          <a:p>
            <a:pPr lvl="0">
              <a:lnSpc>
                <a:spcPct val="110000"/>
              </a:lnSpc>
              <a:buFontTx/>
              <a:buChar char="-"/>
            </a:pPr>
            <a:r>
              <a:rPr lang="bg-BG" sz="1800">
                <a:solidFill>
                  <a:srgbClr val="FFFFFF"/>
                </a:solidFill>
              </a:rPr>
              <a:t>Страниците за вход и регистрация представят системата за удостоверяване.</a:t>
            </a:r>
          </a:p>
          <a:p>
            <a:pPr lvl="0">
              <a:lnSpc>
                <a:spcPct val="110000"/>
              </a:lnSpc>
              <a:buFontTx/>
              <a:buChar char="-"/>
            </a:pPr>
            <a:r>
              <a:rPr lang="bg-BG" sz="1800">
                <a:solidFill>
                  <a:srgbClr val="FFFFFF"/>
                </a:solidFill>
              </a:rPr>
              <a:t>Страницата „Privacy Policy“ показва съответствие с добрите практики за защита на лични данни.</a:t>
            </a:r>
          </a:p>
          <a:p>
            <a:pPr>
              <a:lnSpc>
                <a:spcPct val="110000"/>
              </a:lnSpc>
            </a:pPr>
            <a:endParaRPr lang="bg-BG" sz="180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endParaRPr lang="bg-BG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6334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{12594091-08D8-4D78-9E21-3D907D99528C}TF6d5feb1e-e145-43f1-b745-cb4b54c5ee97cf8755ec-af2c236a388b</Template>
  <TotalTime>57</TotalTime>
  <Words>477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Project MIST</vt:lpstr>
      <vt:lpstr>Какво представлява Mist?</vt:lpstr>
      <vt:lpstr>Функционалности:</vt:lpstr>
      <vt:lpstr>Как работи приложението:</vt:lpstr>
      <vt:lpstr>PowerPoint Presentation</vt:lpstr>
      <vt:lpstr>PowerPoint Presentation</vt:lpstr>
      <vt:lpstr>Заключение: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Георги С. Иванов</dc:creator>
  <cp:lastModifiedBy>Георги С. Иванов</cp:lastModifiedBy>
  <cp:revision>1</cp:revision>
  <dcterms:created xsi:type="dcterms:W3CDTF">2026-02-21T13:32:50Z</dcterms:created>
  <dcterms:modified xsi:type="dcterms:W3CDTF">2026-02-21T14:29:51Z</dcterms:modified>
</cp:coreProperties>
</file>