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bg-BG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2/22/2026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A070EAD-1DCD-4F3D-BA84-799B891A0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B4F41C-7E17-6848-DDF6-C1E1A823AE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08960" y="1122363"/>
            <a:ext cx="7559039" cy="3027360"/>
          </a:xfrm>
        </p:spPr>
        <p:txBody>
          <a:bodyPr>
            <a:normAutofit/>
          </a:bodyPr>
          <a:lstStyle/>
          <a:p>
            <a:r>
              <a:rPr lang="en-US" sz="5400"/>
              <a:t>Project MIST</a:t>
            </a:r>
            <a:endParaRPr lang="bg-BG" sz="54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7CA192-25F5-511A-B732-2B05C018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28010" y="4149724"/>
            <a:ext cx="7539989" cy="1108075"/>
          </a:xfrm>
        </p:spPr>
        <p:txBody>
          <a:bodyPr>
            <a:normAutofit/>
          </a:bodyPr>
          <a:lstStyle/>
          <a:p>
            <a:r>
              <a:rPr lang="bg-BG" sz="2400">
                <a:solidFill>
                  <a:schemeClr val="tx1"/>
                </a:solidFill>
              </a:rPr>
              <a:t>Направен от Николай Иванов, Любомир Шишков и Георги Иванов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E471E13-6104-4637-8A8F-B545529B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>
                  <a:alpha val="60000"/>
                </a:schemeClr>
              </a:gs>
              <a:gs pos="100000">
                <a:schemeClr val="bg2">
                  <a:lumMod val="60000"/>
                  <a:lumOff val="40000"/>
                  <a:alpha val="80000"/>
                </a:schemeClr>
              </a:gs>
            </a:gsLst>
            <a:lin ang="5400000" scaled="0"/>
            <a:tileRect/>
          </a:gra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802F412D-6781-427D-AB79-09FD610CCE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8471B962-D824-43CE-B5DD-704B305B28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ED60EBD3-FA75-460B-AFBD-3F234A0CAA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4" name="Rectangle 8">
              <a:extLst>
                <a:ext uri="{FF2B5EF4-FFF2-40B4-BE49-F238E27FC236}">
                  <a16:creationId xmlns:a16="http://schemas.microsoft.com/office/drawing/2014/main" id="{D0791244-FBF2-49D9-BDBC-E2E58C86B4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FEE4C4B1-195C-40F5-A78F-2EB7ED6E6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22766AF8-3850-41E4-80D0-321D9A13D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8834F8EE-AB04-42FE-AE7B-3E9C6ACA0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C86BB534-4617-4275-908E-357CF2246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B6DEB58B-8D28-4BE9-9CA9-F4B3A083BC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25A772BC-4720-4EC2-AD61-A7B74E915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60D6B27E-FAC5-4267-80A9-DE4D2E02B8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1F39FA83-D8C8-4CE3-9C62-10375FD041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E09B4CF3-A51F-4787-81FE-F5C79BA426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6695CB35-74E4-43C0-89F5-9FDA59B3AC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945450CE-FB13-4C46-825F-5BB1917033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E80AA0B2-7FE7-4B75-AC25-E0F6C0FE45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2E81F7C1-AD8F-41A0-91A8-E05F66CB0E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F4E8A538-9FFA-4C76-BCE2-D54F56A115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3C412824-3CBA-4E74-B2FD-936EA70486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E28DC1F0-74FF-4D97-BD4D-FD42DE4AC6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77CEC4FA-6FD3-4ABF-BF98-94E7947A5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D4E61DA7-BFA9-48AF-BD6F-EBB15C2359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57164D6A-1DD9-43AE-878F-A413DC26FB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4949EBA6-53D9-4F2D-91DB-EA7AE260F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0AFEA5FA-F759-441C-A0BC-7EDC79A67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5B913AE0-5DC8-4244-8C26-ED97F834E3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A87DB58A-25D2-46F1-85E3-06F964D01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E7AE8209-F3E7-4ACA-98D0-90B282A147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39" name="Rectangle 33">
              <a:extLst>
                <a:ext uri="{FF2B5EF4-FFF2-40B4-BE49-F238E27FC236}">
                  <a16:creationId xmlns:a16="http://schemas.microsoft.com/office/drawing/2014/main" id="{1CED7927-A7C7-444A-A8F3-6348852AE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0" name="Freeform 34">
              <a:extLst>
                <a:ext uri="{FF2B5EF4-FFF2-40B4-BE49-F238E27FC236}">
                  <a16:creationId xmlns:a16="http://schemas.microsoft.com/office/drawing/2014/main" id="{08BEDF90-F9A6-4DE4-94B6-43E4160394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1" name="Freeform 35">
              <a:extLst>
                <a:ext uri="{FF2B5EF4-FFF2-40B4-BE49-F238E27FC236}">
                  <a16:creationId xmlns:a16="http://schemas.microsoft.com/office/drawing/2014/main" id="{36540D5F-1C77-438A-BF12-56455C472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2" name="Freeform 36">
              <a:extLst>
                <a:ext uri="{FF2B5EF4-FFF2-40B4-BE49-F238E27FC236}">
                  <a16:creationId xmlns:a16="http://schemas.microsoft.com/office/drawing/2014/main" id="{52FC779A-BC55-40AC-8FFD-E014F8C05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3" name="Freeform 37">
              <a:extLst>
                <a:ext uri="{FF2B5EF4-FFF2-40B4-BE49-F238E27FC236}">
                  <a16:creationId xmlns:a16="http://schemas.microsoft.com/office/drawing/2014/main" id="{63E42DE5-DC0E-4043-8A35-20C53074A2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4" name="Freeform 38">
              <a:extLst>
                <a:ext uri="{FF2B5EF4-FFF2-40B4-BE49-F238E27FC236}">
                  <a16:creationId xmlns:a16="http://schemas.microsoft.com/office/drawing/2014/main" id="{41581FA6-993A-4899-ADF1-0A83A6234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5" name="Freeform 39">
              <a:extLst>
                <a:ext uri="{FF2B5EF4-FFF2-40B4-BE49-F238E27FC236}">
                  <a16:creationId xmlns:a16="http://schemas.microsoft.com/office/drawing/2014/main" id="{33C4FDB9-01D2-4CB0-BFED-216CAC7EB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6" name="Freeform 40">
              <a:extLst>
                <a:ext uri="{FF2B5EF4-FFF2-40B4-BE49-F238E27FC236}">
                  <a16:creationId xmlns:a16="http://schemas.microsoft.com/office/drawing/2014/main" id="{34E715AB-2B68-41C4-A61F-02C413F242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7" name="Freeform 41">
              <a:extLst>
                <a:ext uri="{FF2B5EF4-FFF2-40B4-BE49-F238E27FC236}">
                  <a16:creationId xmlns:a16="http://schemas.microsoft.com/office/drawing/2014/main" id="{D3861C35-D060-408D-9871-4DA2D0547B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8" name="Freeform 42">
              <a:extLst>
                <a:ext uri="{FF2B5EF4-FFF2-40B4-BE49-F238E27FC236}">
                  <a16:creationId xmlns:a16="http://schemas.microsoft.com/office/drawing/2014/main" id="{B4F4F38F-33FE-48A0-986D-FB771F18B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49" name="Freeform 43">
              <a:extLst>
                <a:ext uri="{FF2B5EF4-FFF2-40B4-BE49-F238E27FC236}">
                  <a16:creationId xmlns:a16="http://schemas.microsoft.com/office/drawing/2014/main" id="{50FCFC8E-2DC3-4F27-9E02-196830E78D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0" name="Freeform 44">
              <a:extLst>
                <a:ext uri="{FF2B5EF4-FFF2-40B4-BE49-F238E27FC236}">
                  <a16:creationId xmlns:a16="http://schemas.microsoft.com/office/drawing/2014/main" id="{3A6EE414-1500-4144-B453-BA950E5107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1" name="Rectangle 45">
              <a:extLst>
                <a:ext uri="{FF2B5EF4-FFF2-40B4-BE49-F238E27FC236}">
                  <a16:creationId xmlns:a16="http://schemas.microsoft.com/office/drawing/2014/main" id="{0C1A9D8A-5515-4C84-AE17-A6D5124383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2" name="Freeform 46">
              <a:extLst>
                <a:ext uri="{FF2B5EF4-FFF2-40B4-BE49-F238E27FC236}">
                  <a16:creationId xmlns:a16="http://schemas.microsoft.com/office/drawing/2014/main" id="{E8E7C8C7-FE85-4C8F-960C-3748511E08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3" name="Freeform 47">
              <a:extLst>
                <a:ext uri="{FF2B5EF4-FFF2-40B4-BE49-F238E27FC236}">
                  <a16:creationId xmlns:a16="http://schemas.microsoft.com/office/drawing/2014/main" id="{33DF2ED7-F601-4A9F-AA50-822ED85D56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4" name="Freeform 48">
              <a:extLst>
                <a:ext uri="{FF2B5EF4-FFF2-40B4-BE49-F238E27FC236}">
                  <a16:creationId xmlns:a16="http://schemas.microsoft.com/office/drawing/2014/main" id="{FEDB3A05-6FDD-4E87-B800-8F9975244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5" name="Freeform 49">
              <a:extLst>
                <a:ext uri="{FF2B5EF4-FFF2-40B4-BE49-F238E27FC236}">
                  <a16:creationId xmlns:a16="http://schemas.microsoft.com/office/drawing/2014/main" id="{AD6225C0-E391-49D5-9A7B-57C5ED60E1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6" name="Freeform 50">
              <a:extLst>
                <a:ext uri="{FF2B5EF4-FFF2-40B4-BE49-F238E27FC236}">
                  <a16:creationId xmlns:a16="http://schemas.microsoft.com/office/drawing/2014/main" id="{B814B458-45E5-451C-9CBD-027E3776A4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7" name="Freeform 51">
              <a:extLst>
                <a:ext uri="{FF2B5EF4-FFF2-40B4-BE49-F238E27FC236}">
                  <a16:creationId xmlns:a16="http://schemas.microsoft.com/office/drawing/2014/main" id="{59167140-9A0D-4FE7-8E37-2CD6130116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8" name="Freeform 52">
              <a:extLst>
                <a:ext uri="{FF2B5EF4-FFF2-40B4-BE49-F238E27FC236}">
                  <a16:creationId xmlns:a16="http://schemas.microsoft.com/office/drawing/2014/main" id="{2D38B213-991B-495D-8886-04CAD44C7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59" name="Freeform 53">
              <a:extLst>
                <a:ext uri="{FF2B5EF4-FFF2-40B4-BE49-F238E27FC236}">
                  <a16:creationId xmlns:a16="http://schemas.microsoft.com/office/drawing/2014/main" id="{67C1C3DA-3972-4D98-9D9E-390461B288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60" name="Freeform 54">
              <a:extLst>
                <a:ext uri="{FF2B5EF4-FFF2-40B4-BE49-F238E27FC236}">
                  <a16:creationId xmlns:a16="http://schemas.microsoft.com/office/drawing/2014/main" id="{972F8941-61DB-48E1-B9C1-E732470563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61" name="Freeform 55">
              <a:extLst>
                <a:ext uri="{FF2B5EF4-FFF2-40B4-BE49-F238E27FC236}">
                  <a16:creationId xmlns:a16="http://schemas.microsoft.com/office/drawing/2014/main" id="{857B495F-5C9B-435F-8D39-45CC57471F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62" name="Freeform 56">
              <a:extLst>
                <a:ext uri="{FF2B5EF4-FFF2-40B4-BE49-F238E27FC236}">
                  <a16:creationId xmlns:a16="http://schemas.microsoft.com/office/drawing/2014/main" id="{B607428B-B7C9-4017-84F8-19C9B2134A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63" name="Freeform 57">
              <a:extLst>
                <a:ext uri="{FF2B5EF4-FFF2-40B4-BE49-F238E27FC236}">
                  <a16:creationId xmlns:a16="http://schemas.microsoft.com/office/drawing/2014/main" id="{A20C5139-2108-4F5E-B892-64F1D8605E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  <p:sp>
          <p:nvSpPr>
            <p:cNvPr id="64" name="Freeform 58">
              <a:extLst>
                <a:ext uri="{FF2B5EF4-FFF2-40B4-BE49-F238E27FC236}">
                  <a16:creationId xmlns:a16="http://schemas.microsoft.com/office/drawing/2014/main" id="{C2A51623-F2F3-4584-93F5-598E56A5F4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bg-BG"/>
            </a:p>
          </p:txBody>
        </p:sp>
      </p:grpSp>
      <p:pic>
        <p:nvPicPr>
          <p:cNvPr id="4" name="Картина 2">
            <a:extLst>
              <a:ext uri="{FF2B5EF4-FFF2-40B4-BE49-F238E27FC236}">
                <a16:creationId xmlns:a16="http://schemas.microsoft.com/office/drawing/2014/main" id="{FC66F3B7-28F7-41CB-5348-972597D605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9859" y="2099510"/>
            <a:ext cx="1878444" cy="2050213"/>
          </a:xfrm>
          <a:prstGeom prst="ellipse">
            <a:avLst/>
          </a:prstGeom>
          <a:ln w="63500" cap="rnd">
            <a:solidFill>
              <a:srgbClr val="333333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3504830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598488" cy="1981201"/>
            <a:chOff x="194733" y="0"/>
            <a:chExt cx="598488" cy="1981201"/>
          </a:xfrm>
        </p:grpSpPr>
        <p:sp>
          <p:nvSpPr>
            <p:cNvPr id="11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12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13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14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15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16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085512" y="0"/>
            <a:ext cx="650875" cy="1730375"/>
            <a:chOff x="11347978" y="0"/>
            <a:chExt cx="650875" cy="1730375"/>
          </a:xfrm>
        </p:grpSpPr>
        <p:sp>
          <p:nvSpPr>
            <p:cNvPr id="19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0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1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2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40267" y="5118101"/>
            <a:ext cx="650875" cy="1730375"/>
            <a:chOff x="118533" y="5118101"/>
            <a:chExt cx="650875" cy="1730375"/>
          </a:xfrm>
        </p:grpSpPr>
        <p:sp>
          <p:nvSpPr>
            <p:cNvPr id="25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6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7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8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1229445" y="4867275"/>
            <a:ext cx="598488" cy="1981201"/>
            <a:chOff x="11424178" y="4867275"/>
            <a:chExt cx="598488" cy="1981201"/>
          </a:xfrm>
        </p:grpSpPr>
        <p:sp>
          <p:nvSpPr>
            <p:cNvPr id="31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32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33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34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35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36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2867" y="766234"/>
            <a:ext cx="10346266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9C8B6F-0981-38A6-CEA6-C37478651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445" y="1168078"/>
            <a:ext cx="9048219" cy="1092200"/>
          </a:xfrm>
        </p:spPr>
        <p:txBody>
          <a:bodyPr anchor="ctr">
            <a:normAutofit/>
          </a:bodyPr>
          <a:lstStyle/>
          <a:p>
            <a:pPr algn="ctr"/>
            <a:r>
              <a:rPr lang="bg-BG">
                <a:solidFill>
                  <a:srgbClr val="FFFFFF"/>
                </a:solidFill>
              </a:rPr>
              <a:t>Какво представлява </a:t>
            </a:r>
            <a:r>
              <a:rPr lang="en-US">
                <a:solidFill>
                  <a:srgbClr val="FFFFFF"/>
                </a:solidFill>
              </a:rPr>
              <a:t>Mist?</a:t>
            </a:r>
            <a:endParaRPr lang="bg-BG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D38F1-1702-ED72-413A-968E5707CE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7446" y="2413001"/>
            <a:ext cx="9048218" cy="3033180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700" b="1">
                <a:solidFill>
                  <a:srgbClr val="FFFFFF"/>
                </a:solidFill>
              </a:rPr>
              <a:t>MIST </a:t>
            </a:r>
            <a:r>
              <a:rPr lang="bg-BG" sz="1700">
                <a:solidFill>
                  <a:srgbClr val="FFFFFF"/>
                </a:solidFill>
              </a:rPr>
              <a:t>е уеб приложение за продажба на видео игри, реализирано чрез три основни слоя:</a:t>
            </a:r>
            <a:endParaRPr lang="en-US" sz="1700">
              <a:solidFill>
                <a:srgbClr val="FFFFFF"/>
              </a:solidFill>
            </a:endParaRPr>
          </a:p>
          <a:p>
            <a:pPr>
              <a:lnSpc>
                <a:spcPct val="110000"/>
              </a:lnSpc>
              <a:buFontTx/>
              <a:buChar char="-"/>
            </a:pPr>
            <a:r>
              <a:rPr lang="bg-BG" sz="1700" b="1">
                <a:solidFill>
                  <a:srgbClr val="FFFFFF"/>
                </a:solidFill>
              </a:rPr>
              <a:t>Слой за данни </a:t>
            </a:r>
            <a:endParaRPr lang="en-US" sz="1700" b="1">
              <a:solidFill>
                <a:srgbClr val="FFFFFF"/>
              </a:solidFill>
            </a:endParaRPr>
          </a:p>
          <a:p>
            <a:pPr>
              <a:lnSpc>
                <a:spcPct val="110000"/>
              </a:lnSpc>
              <a:buFontTx/>
              <a:buChar char="-"/>
            </a:pPr>
            <a:r>
              <a:rPr lang="bg-BG" sz="1700" b="1">
                <a:solidFill>
                  <a:srgbClr val="FFFFFF"/>
                </a:solidFill>
              </a:rPr>
              <a:t>Слой за услуги </a:t>
            </a:r>
            <a:endParaRPr lang="en-US" sz="1700" b="1">
              <a:solidFill>
                <a:srgbClr val="FFFFFF"/>
              </a:solidFill>
            </a:endParaRPr>
          </a:p>
          <a:p>
            <a:pPr>
              <a:lnSpc>
                <a:spcPct val="110000"/>
              </a:lnSpc>
              <a:buFontTx/>
              <a:buChar char="-"/>
            </a:pPr>
            <a:r>
              <a:rPr lang="bg-BG" sz="1700" b="1">
                <a:solidFill>
                  <a:srgbClr val="FFFFFF"/>
                </a:solidFill>
              </a:rPr>
              <a:t>Презентационен слой </a:t>
            </a:r>
            <a:endParaRPr lang="bg-BG" sz="1700">
              <a:solidFill>
                <a:srgbClr val="FFFFFF"/>
              </a:solidFill>
            </a:endParaRPr>
          </a:p>
          <a:p>
            <a:pPr>
              <a:lnSpc>
                <a:spcPct val="110000"/>
              </a:lnSpc>
            </a:pPr>
            <a:r>
              <a:rPr lang="bg-BG" sz="1700">
                <a:solidFill>
                  <a:srgbClr val="FFFFFF"/>
                </a:solidFill>
              </a:rPr>
              <a:t>Приложението използва база данни, </a:t>
            </a:r>
            <a:r>
              <a:rPr lang="bg-BG" sz="1700" b="1">
                <a:solidFill>
                  <a:srgbClr val="FFFFFF"/>
                </a:solidFill>
              </a:rPr>
              <a:t>Entity Framework Core</a:t>
            </a:r>
            <a:r>
              <a:rPr lang="bg-BG" sz="1700">
                <a:solidFill>
                  <a:srgbClr val="FFFFFF"/>
                </a:solidFill>
              </a:rPr>
              <a:t>, </a:t>
            </a:r>
            <a:r>
              <a:rPr lang="bg-BG" sz="1700" b="1">
                <a:solidFill>
                  <a:srgbClr val="FFFFFF"/>
                </a:solidFill>
              </a:rPr>
              <a:t>ASP.NET Core MVC</a:t>
            </a:r>
            <a:r>
              <a:rPr lang="bg-BG" sz="1700">
                <a:solidFill>
                  <a:srgbClr val="FFFFFF"/>
                </a:solidFill>
              </a:rPr>
              <a:t>, система за </a:t>
            </a:r>
            <a:r>
              <a:rPr lang="bg-BG" sz="1700" b="1">
                <a:solidFill>
                  <a:srgbClr val="FFFFFF"/>
                </a:solidFill>
              </a:rPr>
              <a:t>авторизация и удостоверяване</a:t>
            </a:r>
            <a:r>
              <a:rPr lang="bg-BG" sz="1700">
                <a:solidFill>
                  <a:srgbClr val="FFFFFF"/>
                </a:solidFill>
              </a:rPr>
              <a:t>, както и външни библиотеки за UI и функционалности.</a:t>
            </a:r>
          </a:p>
          <a:p>
            <a:pPr>
              <a:lnSpc>
                <a:spcPct val="110000"/>
              </a:lnSpc>
            </a:pPr>
            <a:endParaRPr lang="bg-BG" sz="1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89427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DE2685-095E-D6A5-39F6-5A6544478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b="1"/>
              <a:t>Функционалности: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BD2D8D5-2477-6BE1-EBE3-A3CAF76EF2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5946" y="2068878"/>
            <a:ext cx="3392423" cy="2776664"/>
          </a:xfrm>
        </p:spPr>
        <p:txBody>
          <a:bodyPr>
            <a:normAutofit fontScale="85000" lnSpcReduction="10000"/>
          </a:bodyPr>
          <a:lstStyle/>
          <a:p>
            <a:r>
              <a:rPr lang="bg-BG" b="1"/>
              <a:t>Публична част:</a:t>
            </a:r>
          </a:p>
          <a:p>
            <a:pPr>
              <a:buFontTx/>
              <a:buChar char="-"/>
            </a:pPr>
            <a:r>
              <a:rPr lang="bg-BG"/>
              <a:t>Преглед на всички игри</a:t>
            </a:r>
          </a:p>
          <a:p>
            <a:pPr>
              <a:buFontTx/>
              <a:buChar char="-"/>
            </a:pPr>
            <a:r>
              <a:rPr lang="bg-BG"/>
              <a:t>Филтриране по жанр</a:t>
            </a:r>
            <a:endParaRPr lang="en-US"/>
          </a:p>
          <a:p>
            <a:pPr>
              <a:buFontTx/>
              <a:buChar char="-"/>
            </a:pPr>
            <a:r>
              <a:rPr lang="bg-BG"/>
              <a:t>Преглед на детайли за игра</a:t>
            </a:r>
          </a:p>
          <a:p>
            <a:endParaRPr lang="bg-BG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A02661-51D9-4FB0-6C4B-50398FE635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18369" y="2097088"/>
            <a:ext cx="4152964" cy="2776664"/>
          </a:xfrm>
        </p:spPr>
        <p:txBody>
          <a:bodyPr>
            <a:normAutofit fontScale="85000" lnSpcReduction="10000"/>
          </a:bodyPr>
          <a:lstStyle/>
          <a:p>
            <a:r>
              <a:rPr lang="bg-BG" b="1"/>
              <a:t>Потребителска част (след логин):</a:t>
            </a:r>
            <a:endParaRPr lang="bg-BG"/>
          </a:p>
          <a:p>
            <a:pPr>
              <a:buFontTx/>
              <a:buChar char="-"/>
            </a:pPr>
            <a:r>
              <a:rPr lang="bg-BG"/>
              <a:t>Добавяне на игри в количка</a:t>
            </a:r>
          </a:p>
          <a:p>
            <a:pPr>
              <a:buFontTx/>
              <a:buChar char="-"/>
            </a:pPr>
            <a:r>
              <a:rPr lang="bg-BG"/>
              <a:t>Създаване на поръчка</a:t>
            </a:r>
          </a:p>
          <a:p>
            <a:pPr>
              <a:buFontTx/>
              <a:buChar char="-"/>
            </a:pPr>
            <a:r>
              <a:rPr lang="bg-BG"/>
              <a:t>Преглед на история на поръчките</a:t>
            </a:r>
          </a:p>
          <a:p>
            <a:pPr>
              <a:buFontTx/>
              <a:buChar char="-"/>
            </a:pPr>
            <a:r>
              <a:rPr lang="bg-BG"/>
              <a:t>Редакция на профил</a:t>
            </a:r>
          </a:p>
          <a:p>
            <a:pPr marL="0" indent="0">
              <a:buNone/>
            </a:pPr>
            <a:endParaRPr lang="bg-BG"/>
          </a:p>
          <a:p>
            <a:pPr>
              <a:buFontTx/>
              <a:buChar char="-"/>
            </a:pPr>
            <a:endParaRPr lang="bg-BG"/>
          </a:p>
          <a:p>
            <a:endParaRPr lang="bg-BG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DA3A90E0-20A7-469F-7CBC-0E5B45E9E89F}"/>
              </a:ext>
            </a:extLst>
          </p:cNvPr>
          <p:cNvSpPr txBox="1">
            <a:spLocks/>
          </p:cNvSpPr>
          <p:nvPr/>
        </p:nvSpPr>
        <p:spPr>
          <a:xfrm>
            <a:off x="8371333" y="2097088"/>
            <a:ext cx="3275141" cy="3050984"/>
          </a:xfrm>
          <a:prstGeom prst="rect">
            <a:avLst/>
          </a:prstGeom>
        </p:spPr>
        <p:txBody>
          <a:bodyPr vert="horz" lIns="91440" tIns="45720" rIns="91440" bIns="45720" rtlCol="0">
            <a:normAutofit fontScale="4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bg-BG" sz="5000" b="1"/>
              <a:t>Администраторска част</a:t>
            </a:r>
            <a:endParaRPr lang="bg-BG" sz="5000"/>
          </a:p>
          <a:p>
            <a:pPr lvl="0">
              <a:buFontTx/>
              <a:buChar char="-"/>
            </a:pPr>
            <a:r>
              <a:rPr lang="bg-BG" sz="5000"/>
              <a:t>CRUD операции за игри</a:t>
            </a:r>
          </a:p>
          <a:p>
            <a:pPr lvl="0">
              <a:buFontTx/>
              <a:buChar char="-"/>
            </a:pPr>
            <a:r>
              <a:rPr lang="bg-BG" sz="5000"/>
              <a:t>CRUD операции за жанрове</a:t>
            </a:r>
          </a:p>
          <a:p>
            <a:pPr lvl="0">
              <a:buFontTx/>
              <a:buChar char="-"/>
            </a:pPr>
            <a:r>
              <a:rPr lang="bg-BG" sz="5000"/>
              <a:t>Управление на потребители</a:t>
            </a:r>
          </a:p>
          <a:p>
            <a:pPr lvl="0">
              <a:buFontTx/>
              <a:buChar char="-"/>
            </a:pPr>
            <a:r>
              <a:rPr lang="bg-BG" sz="5000"/>
              <a:t>Преглед на всички поръчки</a:t>
            </a:r>
          </a:p>
          <a:p>
            <a:pPr>
              <a:buFontTx/>
              <a:buChar char="-"/>
            </a:pPr>
            <a:endParaRPr lang="bg-BG" sz="2900"/>
          </a:p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57017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AEE45-38A2-7D6F-F22D-F91A4B63D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43030"/>
            <a:ext cx="9905998" cy="1478570"/>
          </a:xfrm>
        </p:spPr>
        <p:txBody>
          <a:bodyPr/>
          <a:lstStyle/>
          <a:p>
            <a:r>
              <a:rPr lang="bg-BG" b="1"/>
              <a:t>Как работи приложението: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3CB2E2C-3B5B-D934-19BE-563C5A231D8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41415" y="1393551"/>
            <a:ext cx="4573587" cy="22957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B109C2-EC83-A1CD-1E00-EE9F204B119A}"/>
              </a:ext>
            </a:extLst>
          </p:cNvPr>
          <p:cNvSpPr txBox="1"/>
          <p:nvPr/>
        </p:nvSpPr>
        <p:spPr>
          <a:xfrm>
            <a:off x="658370" y="3689343"/>
            <a:ext cx="505663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bg-BG" b="1"/>
              <a:t>Начална страница: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/>
              <a:t>Начало</a:t>
            </a:r>
            <a:r>
              <a:rPr lang="en-US"/>
              <a:t> – връща потребителя обратно на тази страница.</a:t>
            </a:r>
            <a:endParaRPr lang="bg-BG" sz="140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/>
              <a:t>Политика за поверителност </a:t>
            </a:r>
            <a:r>
              <a:rPr lang="en-US"/>
              <a:t>– информация за събирането и използването на лични данни.</a:t>
            </a:r>
            <a:endParaRPr lang="bg-BG" sz="140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bg-BG" b="1"/>
              <a:t>Игри</a:t>
            </a:r>
            <a:r>
              <a:rPr lang="bg-BG"/>
              <a:t> – преглед на игрите на сайта</a:t>
            </a:r>
            <a:endParaRPr lang="bg-BG" sz="140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bg-BG" b="1"/>
              <a:t>Категории</a:t>
            </a:r>
            <a:r>
              <a:rPr lang="bg-BG"/>
              <a:t> – показва какви видове игри има</a:t>
            </a:r>
            <a:endParaRPr lang="bg-BG" sz="1400"/>
          </a:p>
          <a:p>
            <a:endParaRPr lang="bg-BG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7456BD-A873-4FE7-95A3-96245B62E094}"/>
              </a:ext>
            </a:extLst>
          </p:cNvPr>
          <p:cNvSpPr txBox="1"/>
          <p:nvPr/>
        </p:nvSpPr>
        <p:spPr>
          <a:xfrm>
            <a:off x="6303263" y="3689343"/>
            <a:ext cx="535533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bg-BG" b="1"/>
              <a:t>Страница „Политика за поверителност“: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g-BG" b="1"/>
              <a:t>Описано е</a:t>
            </a:r>
            <a:r>
              <a:rPr lang="bg-BG"/>
              <a:t>, че могат да се събират: име, адрес, телефонен номер и имейл.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g-BG" b="1"/>
              <a:t>Събраните данни се използват за:</a:t>
            </a:r>
          </a:p>
          <a:p>
            <a:pPr marL="285750" indent="-285750">
              <a:buFontTx/>
              <a:buChar char="-"/>
            </a:pPr>
            <a:r>
              <a:rPr lang="bg-BG"/>
              <a:t>предоставяне на услуги през сайта</a:t>
            </a:r>
          </a:p>
          <a:p>
            <a:pPr marL="285750" indent="-285750">
              <a:buFontTx/>
              <a:buChar char="-"/>
            </a:pPr>
            <a:r>
              <a:rPr lang="bg-BG"/>
              <a:t>комуникация с потребителя относно запитвания</a:t>
            </a:r>
          </a:p>
          <a:p>
            <a:pPr marL="285750" indent="-285750">
              <a:buFontTx/>
              <a:buChar char="-"/>
            </a:pPr>
            <a:r>
              <a:rPr lang="bg-BG"/>
              <a:t>подобряване качеството на съдържанието и услугите</a:t>
            </a:r>
          </a:p>
          <a:p>
            <a:endParaRPr lang="bg-BG"/>
          </a:p>
          <a:p>
            <a:endParaRPr lang="bg-BG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5E2B051-23AA-FEBF-7010-AF28A83FAA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77000" y="1393550"/>
            <a:ext cx="4596497" cy="229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807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1AD93AE-71FE-C4A1-4DE8-F320106F34D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985966" y="1334820"/>
            <a:ext cx="5334366" cy="2173259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2A6D46F-D2E1-950E-1286-689636AE3FF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935060" y="1334820"/>
            <a:ext cx="2604572" cy="21760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4248AF-BD20-7D8F-5F0A-0CD045941BF2}"/>
              </a:ext>
            </a:extLst>
          </p:cNvPr>
          <p:cNvSpPr txBox="1"/>
          <p:nvPr/>
        </p:nvSpPr>
        <p:spPr>
          <a:xfrm>
            <a:off x="922751" y="3601430"/>
            <a:ext cx="5460796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2000" b="1"/>
              <a:t>Страница „Игри“: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g-BG" sz="2000"/>
              <a:t>До всяка игра има бутони: </a:t>
            </a:r>
            <a:r>
              <a:rPr lang="bg-BG" sz="2000" b="1"/>
              <a:t>Edit, Details</a:t>
            </a:r>
            <a:r>
              <a:rPr lang="bg-BG" sz="2000"/>
              <a:t>, </a:t>
            </a:r>
            <a:r>
              <a:rPr lang="bg-BG" sz="2000" b="1"/>
              <a:t>Delete</a:t>
            </a:r>
            <a:endParaRPr lang="bg-BG" sz="20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g-BG" sz="2000"/>
              <a:t>В горната част има бутон </a:t>
            </a:r>
            <a:r>
              <a:rPr lang="bg-BG" sz="2000" b="1"/>
              <a:t>Create New</a:t>
            </a:r>
            <a:r>
              <a:rPr lang="bg-BG" sz="2000"/>
              <a:t> за добавяне на нова игра.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g-BG" sz="2000"/>
              <a:t>Това е основният </a:t>
            </a:r>
            <a:r>
              <a:rPr lang="bg-BG" sz="2000" b="1"/>
              <a:t>CRUD</a:t>
            </a:r>
            <a:r>
              <a:rPr lang="bg-BG" sz="2000"/>
              <a:t> интерфейс за управление на видео игрите. Администраторът може да добавя, редактира и изтрива игри.</a:t>
            </a:r>
          </a:p>
          <a:p>
            <a:endParaRPr lang="bg-B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15D9BD-5E8B-A164-DAEE-7871C45AF627}"/>
              </a:ext>
            </a:extLst>
          </p:cNvPr>
          <p:cNvSpPr txBox="1"/>
          <p:nvPr/>
        </p:nvSpPr>
        <p:spPr>
          <a:xfrm>
            <a:off x="6570163" y="3601430"/>
            <a:ext cx="5334366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2000" b="1"/>
              <a:t>Страница „Категории“: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g-BG" sz="2000"/>
              <a:t>За всеки жанр има: </a:t>
            </a:r>
            <a:r>
              <a:rPr lang="bg-BG" sz="2000" b="1"/>
              <a:t>Edit,</a:t>
            </a:r>
            <a:r>
              <a:rPr lang="bg-BG" sz="2000"/>
              <a:t> </a:t>
            </a:r>
            <a:r>
              <a:rPr lang="bg-BG" sz="2000" b="1"/>
              <a:t>Details</a:t>
            </a:r>
            <a:r>
              <a:rPr lang="bg-BG" sz="2000"/>
              <a:t>, </a:t>
            </a:r>
            <a:r>
              <a:rPr lang="bg-BG" sz="2000" b="1"/>
              <a:t>Delete</a:t>
            </a:r>
            <a:endParaRPr lang="bg-BG" sz="20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g-BG" sz="2000"/>
              <a:t>В горната част има бутон </a:t>
            </a:r>
            <a:r>
              <a:rPr lang="bg-BG" sz="2000" b="1"/>
              <a:t>Create New</a:t>
            </a:r>
            <a:r>
              <a:rPr lang="bg-BG" sz="200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g-BG" sz="2000"/>
              <a:t>Това е </a:t>
            </a:r>
            <a:r>
              <a:rPr lang="bg-BG" sz="2000" b="1"/>
              <a:t>CRUD</a:t>
            </a:r>
            <a:r>
              <a:rPr lang="bg-BG" sz="2000"/>
              <a:t> интерфейсът за управление на жанровете. Жанровете се използват при създаване на игри и представляват връзка „много към едно“.</a:t>
            </a:r>
          </a:p>
          <a:p>
            <a:endParaRPr lang="bg-BG"/>
          </a:p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96496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Картина 7">
            <a:extLst>
              <a:ext uri="{FF2B5EF4-FFF2-40B4-BE49-F238E27FC236}">
                <a16:creationId xmlns:a16="http://schemas.microsoft.com/office/drawing/2014/main" id="{CB263600-D687-8D3D-670F-048573C60E2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13" y="808700"/>
            <a:ext cx="4878387" cy="22660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9B5BA74-3563-8758-957E-23E64383EF4B}"/>
              </a:ext>
            </a:extLst>
          </p:cNvPr>
          <p:cNvSpPr txBox="1"/>
          <p:nvPr/>
        </p:nvSpPr>
        <p:spPr>
          <a:xfrm>
            <a:off x="1048640" y="3459778"/>
            <a:ext cx="3105783" cy="3447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bg-BG" sz="2000" b="1"/>
              <a:t>Форма за вход с полета:		</a:t>
            </a:r>
          </a:p>
          <a:p>
            <a:pPr marL="285750" lvl="0" indent="-285750">
              <a:buFontTx/>
              <a:buChar char="-"/>
            </a:pPr>
            <a:r>
              <a:rPr lang="bg-BG" sz="2000"/>
              <a:t>Email</a:t>
            </a:r>
          </a:p>
          <a:p>
            <a:pPr marL="285750" lvl="0" indent="-285750">
              <a:buFontTx/>
              <a:buChar char="-"/>
            </a:pPr>
            <a:r>
              <a:rPr lang="bg-BG" sz="2000"/>
              <a:t>Password</a:t>
            </a:r>
          </a:p>
          <a:p>
            <a:pPr marL="285750" lvl="0" indent="-285750">
              <a:buFontTx/>
              <a:buChar char="-"/>
            </a:pPr>
            <a:r>
              <a:rPr lang="bg-BG" sz="2000"/>
              <a:t>Remember 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g-BG" sz="2000" b="1"/>
              <a:t>И бутони:</a:t>
            </a:r>
          </a:p>
          <a:p>
            <a:pPr marL="285750" lvl="0" indent="-285750">
              <a:buFontTx/>
              <a:buChar char="-"/>
            </a:pPr>
            <a:r>
              <a:rPr lang="bg-BG" sz="2000"/>
              <a:t>Log in</a:t>
            </a:r>
          </a:p>
          <a:p>
            <a:pPr marL="285750" lvl="0" indent="-285750">
              <a:buFontTx/>
              <a:buChar char="-"/>
            </a:pPr>
            <a:r>
              <a:rPr lang="bg-BG" sz="2000"/>
              <a:t>Forgot your password?</a:t>
            </a:r>
          </a:p>
          <a:p>
            <a:pPr marL="285750" lvl="0" indent="-285750">
              <a:buFontTx/>
              <a:buChar char="-"/>
            </a:pPr>
            <a:r>
              <a:rPr lang="bg-BG" sz="2000"/>
              <a:t>Register as a new user</a:t>
            </a:r>
          </a:p>
          <a:p>
            <a:pPr marL="285750" lvl="0" indent="-285750">
              <a:buFontTx/>
              <a:buChar char="-"/>
            </a:pPr>
            <a:r>
              <a:rPr lang="bg-BG" sz="2000"/>
              <a:t>Resend email confirmation</a:t>
            </a:r>
          </a:p>
          <a:p>
            <a:endParaRPr lang="bg-BG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0611F2-7799-836D-2E4C-5671BC36AEDF}"/>
              </a:ext>
            </a:extLst>
          </p:cNvPr>
          <p:cNvSpPr txBox="1"/>
          <p:nvPr/>
        </p:nvSpPr>
        <p:spPr>
          <a:xfrm>
            <a:off x="1144589" y="3059668"/>
            <a:ext cx="48752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2000" b="1"/>
              <a:t>Страница „Вход“: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035E4-4F60-E94B-2C52-EE2EB147C264}"/>
              </a:ext>
            </a:extLst>
          </p:cNvPr>
          <p:cNvSpPr txBox="1"/>
          <p:nvPr/>
        </p:nvSpPr>
        <p:spPr>
          <a:xfrm>
            <a:off x="3779780" y="3474828"/>
            <a:ext cx="2452308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bg-BG" sz="2000" b="1"/>
              <a:t>Потребителите </a:t>
            </a:r>
            <a:r>
              <a:rPr lang="bg-BG" sz="2000"/>
              <a:t>могат да влизат в акаунта си, а администраторът получава достъп до административните панели.</a:t>
            </a:r>
          </a:p>
          <a:p>
            <a:endParaRPr lang="bg-BG"/>
          </a:p>
        </p:txBody>
      </p:sp>
      <p:pic>
        <p:nvPicPr>
          <p:cNvPr id="11" name="Картина 6">
            <a:extLst>
              <a:ext uri="{FF2B5EF4-FFF2-40B4-BE49-F238E27FC236}">
                <a16:creationId xmlns:a16="http://schemas.microsoft.com/office/drawing/2014/main" id="{FD49A4F7-CF24-2FC3-1036-6D779D23140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4375" y="808700"/>
            <a:ext cx="5242213" cy="226601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4DC836-3671-8B3F-4D54-6D8BF94119BE}"/>
              </a:ext>
            </a:extLst>
          </p:cNvPr>
          <p:cNvSpPr txBox="1"/>
          <p:nvPr/>
        </p:nvSpPr>
        <p:spPr>
          <a:xfrm>
            <a:off x="6444375" y="3074718"/>
            <a:ext cx="5242212" cy="34163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bg-BG" sz="2000" b="1"/>
              <a:t>Страница за регистрация:</a:t>
            </a:r>
          </a:p>
          <a:p>
            <a:pPr algn="ctr"/>
            <a:endParaRPr lang="bg-BG" sz="2000" b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g-BG" sz="2000" b="1"/>
              <a:t>Форма за създаване на нов акаунт:</a:t>
            </a:r>
          </a:p>
          <a:p>
            <a:pPr marL="285750" lvl="0" indent="-285750">
              <a:buFontTx/>
              <a:buChar char="-"/>
            </a:pPr>
            <a:r>
              <a:rPr lang="bg-BG" sz="2000"/>
              <a:t>Email</a:t>
            </a:r>
          </a:p>
          <a:p>
            <a:pPr marL="285750" lvl="0" indent="-285750">
              <a:buFontTx/>
              <a:buChar char="-"/>
            </a:pPr>
            <a:r>
              <a:rPr lang="bg-BG" sz="2000"/>
              <a:t>Password</a:t>
            </a:r>
          </a:p>
          <a:p>
            <a:pPr marL="285750" lvl="0" indent="-285750">
              <a:buFontTx/>
              <a:buChar char="-"/>
            </a:pPr>
            <a:r>
              <a:rPr lang="bg-BG" sz="2000"/>
              <a:t>Confirm Password</a:t>
            </a:r>
          </a:p>
          <a:p>
            <a:pPr marL="285750" lvl="0" indent="-285750">
              <a:buFontTx/>
              <a:buChar char="-"/>
            </a:pPr>
            <a:r>
              <a:rPr lang="bg-BG" sz="2000"/>
              <a:t>Register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bg-BG" sz="2000" b="1"/>
              <a:t>Позволява създаване </a:t>
            </a:r>
            <a:r>
              <a:rPr lang="bg-BG" sz="2000"/>
              <a:t>на нови потребители. </a:t>
            </a:r>
          </a:p>
          <a:p>
            <a:pPr marL="285750" lvl="0" indent="-285750">
              <a:buFontTx/>
              <a:buChar char="-"/>
            </a:pPr>
            <a:endParaRPr lang="bg-BG"/>
          </a:p>
          <a:p>
            <a:endParaRPr lang="bg-BG" b="1"/>
          </a:p>
        </p:txBody>
      </p:sp>
    </p:spTree>
    <p:extLst>
      <p:ext uri="{BB962C8B-B14F-4D97-AF65-F5344CB8AC3E}">
        <p14:creationId xmlns:p14="http://schemas.microsoft.com/office/powerpoint/2010/main" val="24046133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598488" cy="1981201"/>
            <a:chOff x="194733" y="0"/>
            <a:chExt cx="598488" cy="1981201"/>
          </a:xfrm>
        </p:grpSpPr>
        <p:sp>
          <p:nvSpPr>
            <p:cNvPr id="11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12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13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14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15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16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085512" y="0"/>
            <a:ext cx="650875" cy="1730375"/>
            <a:chOff x="11347978" y="0"/>
            <a:chExt cx="650875" cy="1730375"/>
          </a:xfrm>
        </p:grpSpPr>
        <p:sp>
          <p:nvSpPr>
            <p:cNvPr id="19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0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1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2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40267" y="5118101"/>
            <a:ext cx="650875" cy="1730375"/>
            <a:chOff x="118533" y="5118101"/>
            <a:chExt cx="650875" cy="1730375"/>
          </a:xfrm>
        </p:grpSpPr>
        <p:sp>
          <p:nvSpPr>
            <p:cNvPr id="25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6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7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8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1229445" y="4867275"/>
            <a:ext cx="598488" cy="1981201"/>
            <a:chOff x="11424178" y="4867275"/>
            <a:chExt cx="598488" cy="1981201"/>
          </a:xfrm>
        </p:grpSpPr>
        <p:sp>
          <p:nvSpPr>
            <p:cNvPr id="31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32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33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34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35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36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bg-BG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2867" y="766234"/>
            <a:ext cx="10346266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041F94-1903-C04D-FF65-3BD505EB3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445" y="1168078"/>
            <a:ext cx="9048219" cy="1092200"/>
          </a:xfrm>
        </p:spPr>
        <p:txBody>
          <a:bodyPr anchor="ctr">
            <a:normAutofit/>
          </a:bodyPr>
          <a:lstStyle/>
          <a:p>
            <a:pPr algn="ctr"/>
            <a:r>
              <a:rPr lang="bg-BG" b="1">
                <a:solidFill>
                  <a:srgbClr val="FFFFFF"/>
                </a:solidFill>
              </a:rPr>
              <a:t>Заключение: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B952F-7EC5-DC5C-A3D6-F1D0CDD4D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6337" y="2248225"/>
            <a:ext cx="9048218" cy="4005995"/>
          </a:xfrm>
        </p:spPr>
        <p:txBody>
          <a:bodyPr anchor="ctr"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bg-BG" sz="2000" b="1">
                <a:solidFill>
                  <a:srgbClr val="FFFFFF"/>
                </a:solidFill>
              </a:rPr>
              <a:t>Проектът </a:t>
            </a:r>
            <a:r>
              <a:rPr lang="en-US" sz="2000" b="1">
                <a:solidFill>
                  <a:srgbClr val="FFFFFF"/>
                </a:solidFill>
              </a:rPr>
              <a:t>MIST</a:t>
            </a:r>
            <a:r>
              <a:rPr lang="bg-BG" sz="2000" b="1">
                <a:solidFill>
                  <a:srgbClr val="FFFFFF"/>
                </a:solidFill>
              </a:rPr>
              <a:t> </a:t>
            </a:r>
            <a:r>
              <a:rPr lang="bg-BG" sz="2000">
                <a:solidFill>
                  <a:srgbClr val="FFFFFF"/>
                </a:solidFill>
              </a:rPr>
              <a:t>е напълно функционално уеб приложение</a:t>
            </a:r>
            <a:r>
              <a:rPr lang="en-US" sz="2000">
                <a:solidFill>
                  <a:srgbClr val="FFFFFF"/>
                </a:solidFill>
              </a:rPr>
              <a:t>. </a:t>
            </a:r>
            <a:r>
              <a:rPr lang="bg-BG" sz="2000">
                <a:solidFill>
                  <a:srgbClr val="FFFFFF"/>
                </a:solidFill>
              </a:rPr>
              <a:t>Системата е изградена върху трислойна архитектура, използва база данни с ORM, включва CRUD операции, удостоверяване с роли и компонентни тестове.</a:t>
            </a:r>
          </a:p>
          <a:p>
            <a:pPr>
              <a:lnSpc>
                <a:spcPct val="110000"/>
              </a:lnSpc>
            </a:pPr>
            <a:r>
              <a:rPr lang="bg-BG" sz="2000" b="1">
                <a:solidFill>
                  <a:srgbClr val="FFFFFF"/>
                </a:solidFill>
              </a:rPr>
              <a:t>Проектът</a:t>
            </a:r>
            <a:r>
              <a:rPr lang="bg-BG" sz="2000">
                <a:solidFill>
                  <a:srgbClr val="FFFFFF"/>
                </a:solidFill>
              </a:rPr>
              <a:t> демонстрира реална работа на основните модули:</a:t>
            </a:r>
          </a:p>
          <a:p>
            <a:pPr lvl="0">
              <a:lnSpc>
                <a:spcPct val="110000"/>
              </a:lnSpc>
            </a:pPr>
            <a:r>
              <a:rPr lang="bg-BG" sz="2000" b="1">
                <a:solidFill>
                  <a:srgbClr val="FFFFFF"/>
                </a:solidFill>
              </a:rPr>
              <a:t>Началната страница и навигацията</a:t>
            </a:r>
            <a:r>
              <a:rPr lang="bg-BG" sz="2000">
                <a:solidFill>
                  <a:srgbClr val="FFFFFF"/>
                </a:solidFill>
              </a:rPr>
              <a:t> показват интуитивен интерфейс и приветствие към потребителя.</a:t>
            </a:r>
          </a:p>
          <a:p>
            <a:pPr lvl="0">
              <a:lnSpc>
                <a:spcPct val="110000"/>
              </a:lnSpc>
              <a:buFontTx/>
              <a:buChar char="-"/>
            </a:pPr>
            <a:r>
              <a:rPr lang="bg-BG" sz="1800">
                <a:solidFill>
                  <a:srgbClr val="FFFFFF"/>
                </a:solidFill>
              </a:rPr>
              <a:t>Списъкът с игри и жанрове илюстрира административния панел за управление на съдържанието.</a:t>
            </a:r>
          </a:p>
          <a:p>
            <a:pPr lvl="0">
              <a:lnSpc>
                <a:spcPct val="110000"/>
              </a:lnSpc>
              <a:buFontTx/>
              <a:buChar char="-"/>
            </a:pPr>
            <a:r>
              <a:rPr lang="bg-BG" sz="1800">
                <a:solidFill>
                  <a:srgbClr val="FFFFFF"/>
                </a:solidFill>
              </a:rPr>
              <a:t>Страниците за вход и регистрация представят системата за удостоверяване.</a:t>
            </a:r>
          </a:p>
          <a:p>
            <a:pPr lvl="0">
              <a:lnSpc>
                <a:spcPct val="110000"/>
              </a:lnSpc>
              <a:buFontTx/>
              <a:buChar char="-"/>
            </a:pPr>
            <a:r>
              <a:rPr lang="bg-BG" sz="1800">
                <a:solidFill>
                  <a:srgbClr val="FFFFFF"/>
                </a:solidFill>
              </a:rPr>
              <a:t>Страницата „Privacy Policy“ показва съответствие с добрите практики за защита на лични данни.</a:t>
            </a:r>
          </a:p>
          <a:p>
            <a:pPr>
              <a:lnSpc>
                <a:spcPct val="110000"/>
              </a:lnSpc>
            </a:pPr>
            <a:endParaRPr lang="bg-BG" sz="1800">
              <a:solidFill>
                <a:srgbClr val="FFFFFF"/>
              </a:solidFill>
            </a:endParaRPr>
          </a:p>
          <a:p>
            <a:pPr>
              <a:lnSpc>
                <a:spcPct val="110000"/>
              </a:lnSpc>
            </a:pPr>
            <a:endParaRPr lang="bg-BG" sz="14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163344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{12594091-08D8-4D78-9E21-3D907D99528C}TF6d5feb1e-e145-43f1-b745-cb4b54c5ee97cf8755ec-af2c236a388b</Template>
  <TotalTime>62</TotalTime>
  <Words>474</Words>
  <Application>Microsoft Office PowerPoint</Application>
  <PresentationFormat>Widescreen</PresentationFormat>
  <Paragraphs>70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Tw Cen MT</vt:lpstr>
      <vt:lpstr>Circuit</vt:lpstr>
      <vt:lpstr>Project MIST</vt:lpstr>
      <vt:lpstr>Какво представлява Mist?</vt:lpstr>
      <vt:lpstr>Функционалности:</vt:lpstr>
      <vt:lpstr>Как работи приложението:</vt:lpstr>
      <vt:lpstr>PowerPoint Presentation</vt:lpstr>
      <vt:lpstr>PowerPoint Presentation</vt:lpstr>
      <vt:lpstr>Заключение: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Георги С. Иванов</dc:creator>
  <cp:lastModifiedBy>Георги С. Иванов</cp:lastModifiedBy>
  <cp:revision>3</cp:revision>
  <dcterms:created xsi:type="dcterms:W3CDTF">2026-02-21T13:32:50Z</dcterms:created>
  <dcterms:modified xsi:type="dcterms:W3CDTF">2026-02-22T08:08:48Z</dcterms:modified>
</cp:coreProperties>
</file>